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404E004-2865-642D-A556-96F347CE7041}">
          <p14:sldIdLst>
            <p14:sldId id="268"/>
            <p14:sldId id="257"/>
          </p14:sldIdLst>
        </p14:section>
        <p14:section name="Tables" id="{1072790B-8E41-132B-F4A1-7735E5272B49}">
          <p14:sldIdLst>
            <p14:sldId id="258"/>
            <p14:sldId id="259"/>
            <p14:sldId id="260"/>
            <p14:sldId id="261"/>
            <p14:sldId id="262"/>
            <p14:sldId id="266"/>
            <p14:sldId id="264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DE63EC-9310-414C-A548-F92B27DFD7A8}" v="3" dt="2026-10-19T17:24:02.986"/>
    <p1510:client id="{C89F7BA4-C691-447B-B045-EB0946B04622}" v="17" dt="2026-10-19T17:04:36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11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BB8F1-28CF-3153-8136-B8BB01719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EDD71-073D-BD71-5D9F-4E87FC8FB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E0C99-637E-989C-3DE3-92ECCA1A3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77A1E-BDD8-F720-4A73-4C834B3D4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83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E7BF1-79E3-42A0-A0DB-1591EE354E0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4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697480"/>
            <a:ext cx="1097280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4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602D7-D208-BBA9-8854-B8821BCDA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89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Database Overview: RetailDB_1</a:t>
            </a:r>
            <a:endParaRPr lang="en-US" sz="2600" dirty="0"/>
          </a:p>
        </p:txBody>
      </p:sp>
      <p:sp>
        <p:nvSpPr>
          <p:cNvPr id="3" name="Customers card"/>
          <p:cNvSpPr/>
          <p:nvPr/>
        </p:nvSpPr>
        <p:spPr>
          <a:xfrm>
            <a:off x="457200" y="1325880"/>
            <a:ext cx="256032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ustomers accent"/>
          <p:cNvSpPr/>
          <p:nvPr/>
        </p:nvSpPr>
        <p:spPr>
          <a:xfrm>
            <a:off x="457200" y="1325880"/>
            <a:ext cx="73152" cy="2834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ustomers title"/>
          <p:cNvSpPr txBox="1"/>
          <p:nvPr/>
        </p:nvSpPr>
        <p:spPr>
          <a:xfrm>
            <a:off x="68580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Customers</a:t>
            </a:r>
            <a:endParaRPr lang="en-US" sz="2000" dirty="0"/>
          </a:p>
        </p:txBody>
      </p:sp>
      <p:sp>
        <p:nvSpPr>
          <p:cNvPr id="6" name="Customers note"/>
          <p:cNvSpPr txBox="1"/>
          <p:nvPr/>
        </p:nvSpPr>
        <p:spPr>
          <a:xfrm>
            <a:off x="68580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Who our customers are</a:t>
            </a:r>
            <a:endParaRPr lang="en-US" sz="1200" dirty="0"/>
          </a:p>
        </p:txBody>
      </p:sp>
      <p:sp>
        <p:nvSpPr>
          <p:cNvPr id="7" name="Customers columns"/>
          <p:cNvSpPr txBox="1"/>
          <p:nvPr/>
        </p:nvSpPr>
        <p:spPr>
          <a:xfrm>
            <a:off x="68580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customer_id (PK)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name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email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city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signup_date</a:t>
            </a:r>
            <a:endParaRPr lang="en-US" sz="1300" dirty="0"/>
          </a:p>
        </p:txBody>
      </p:sp>
      <p:sp>
        <p:nvSpPr>
          <p:cNvPr id="8" name="Products card"/>
          <p:cNvSpPr/>
          <p:nvPr/>
        </p:nvSpPr>
        <p:spPr>
          <a:xfrm>
            <a:off x="3291840" y="1325880"/>
            <a:ext cx="256032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ducts accent"/>
          <p:cNvSpPr/>
          <p:nvPr/>
        </p:nvSpPr>
        <p:spPr>
          <a:xfrm>
            <a:off x="3291840" y="1325880"/>
            <a:ext cx="73152" cy="2834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Products title"/>
          <p:cNvSpPr txBox="1"/>
          <p:nvPr/>
        </p:nvSpPr>
        <p:spPr>
          <a:xfrm>
            <a:off x="35204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Products</a:t>
            </a:r>
            <a:endParaRPr lang="en-US" sz="2000" dirty="0"/>
          </a:p>
        </p:txBody>
      </p:sp>
      <p:sp>
        <p:nvSpPr>
          <p:cNvPr id="11" name="Products note"/>
          <p:cNvSpPr txBox="1"/>
          <p:nvPr/>
        </p:nvSpPr>
        <p:spPr>
          <a:xfrm>
            <a:off x="35204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What we sell</a:t>
            </a:r>
            <a:endParaRPr lang="en-US" sz="1200" dirty="0"/>
          </a:p>
        </p:txBody>
      </p:sp>
      <p:sp>
        <p:nvSpPr>
          <p:cNvPr id="12" name="Products columns"/>
          <p:cNvSpPr txBox="1"/>
          <p:nvPr/>
        </p:nvSpPr>
        <p:spPr>
          <a:xfrm>
            <a:off x="352044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product_id (PK)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product_name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category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price</a:t>
            </a:r>
            <a:endParaRPr lang="en-US" sz="1300" dirty="0"/>
          </a:p>
        </p:txBody>
      </p:sp>
      <p:sp>
        <p:nvSpPr>
          <p:cNvPr id="13" name="Orders card"/>
          <p:cNvSpPr/>
          <p:nvPr/>
        </p:nvSpPr>
        <p:spPr>
          <a:xfrm>
            <a:off x="6126480" y="1325880"/>
            <a:ext cx="256032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Orders accent"/>
          <p:cNvSpPr/>
          <p:nvPr/>
        </p:nvSpPr>
        <p:spPr>
          <a:xfrm>
            <a:off x="6126480" y="1325880"/>
            <a:ext cx="73152" cy="2834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Orders title"/>
          <p:cNvSpPr txBox="1"/>
          <p:nvPr/>
        </p:nvSpPr>
        <p:spPr>
          <a:xfrm>
            <a:off x="635508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Orders</a:t>
            </a:r>
            <a:endParaRPr lang="en-US" sz="2000" dirty="0"/>
          </a:p>
        </p:txBody>
      </p:sp>
      <p:sp>
        <p:nvSpPr>
          <p:cNvPr id="16" name="Orders note"/>
          <p:cNvSpPr txBox="1"/>
          <p:nvPr/>
        </p:nvSpPr>
        <p:spPr>
          <a:xfrm>
            <a:off x="63550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What was purchased</a:t>
            </a:r>
            <a:endParaRPr lang="en-US" sz="1200" dirty="0"/>
          </a:p>
        </p:txBody>
      </p:sp>
      <p:sp>
        <p:nvSpPr>
          <p:cNvPr id="17" name="Orders columns"/>
          <p:cNvSpPr txBox="1"/>
          <p:nvPr/>
        </p:nvSpPr>
        <p:spPr>
          <a:xfrm>
            <a:off x="635508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order_id (PK)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customer_id (FK)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product_id (FK)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order_date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quantity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total_amount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payment_mode</a:t>
            </a:r>
            <a:endParaRPr lang="en-US" sz="1300" dirty="0"/>
          </a:p>
        </p:txBody>
      </p:sp>
      <p:sp>
        <p:nvSpPr>
          <p:cNvPr id="18" name="Relationship note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Orders links Customers and Products through customer_id and product_id (foreign keys).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Customers Table (Q1: Fetch all customers)</a:t>
            </a:r>
            <a:endParaRPr lang="en-US" sz="2600" dirty="0"/>
          </a:p>
        </p:txBody>
      </p:sp>
      <p:sp>
        <p:nvSpPr>
          <p:cNvPr id="3" name="Query label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QUERY</a:t>
            </a:r>
            <a:endParaRPr lang="en-US" sz="1200" dirty="0"/>
          </a:p>
        </p:txBody>
      </p:sp>
      <p:sp>
        <p:nvSpPr>
          <p:cNvPr id="4" name="Code box"/>
          <p:cNvSpPr/>
          <p:nvPr/>
        </p:nvSpPr>
        <p:spPr>
          <a:xfrm>
            <a:off x="457200" y="1508760"/>
            <a:ext cx="3200400" cy="502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Query text"/>
          <p:cNvSpPr txBox="1"/>
          <p:nvPr/>
        </p:nvSpPr>
        <p:spPr>
          <a:xfrm>
            <a:off x="45720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customers;</a:t>
            </a:r>
            <a:endParaRPr lang="en-US" sz="1300" dirty="0"/>
          </a:p>
        </p:txBody>
      </p:sp>
      <p:sp>
        <p:nvSpPr>
          <p:cNvPr id="6" name="Insights label"/>
          <p:cNvSpPr txBox="1"/>
          <p:nvPr/>
        </p:nvSpPr>
        <p:spPr>
          <a:xfrm>
            <a:off x="45720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INSIGHTS</a:t>
            </a:r>
            <a:endParaRPr lang="en-US" sz="1200" dirty="0"/>
          </a:p>
        </p:txBody>
      </p:sp>
      <p:sp>
        <p:nvSpPr>
          <p:cNvPr id="7" name="Insights text"/>
          <p:cNvSpPr txBox="1"/>
          <p:nvPr/>
        </p:nvSpPr>
        <p:spPr>
          <a:xfrm>
            <a:off x="457200" y="2542032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platform has 15 registered customers, spread across 13 different cities.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Delhi and Chennai each have 2 customers, every other city has 1. No single city dominates.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All signups happened between Jan and Aug 2023, roughly 2 new customers per month.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Gmail is the most used email provider (11 of 15), followed by Yahoo (3) and Outlook (1).</a:t>
            </a:r>
            <a:endParaRPr lang="en-US" sz="1200" dirty="0"/>
          </a:p>
        </p:txBody>
      </p:sp>
      <p:sp>
        <p:nvSpPr>
          <p:cNvPr id="8" name="Output label"/>
          <p:cNvSpPr txBox="1"/>
          <p:nvPr/>
        </p:nvSpPr>
        <p:spPr>
          <a:xfrm>
            <a:off x="39776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OUTPUT</a:t>
            </a:r>
            <a:endParaRPr lang="en-US" sz="1200" dirty="0"/>
          </a:p>
        </p:txBody>
      </p:sp>
      <p:pic>
        <p:nvPicPr>
          <p:cNvPr id="9" name="Output screenshot" descr="15 rows return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508760"/>
            <a:ext cx="4709160" cy="3107699"/>
          </a:xfrm>
          <a:prstGeom prst="rect">
            <a:avLst/>
          </a:prstGeom>
        </p:spPr>
      </p:pic>
      <p:sp>
        <p:nvSpPr>
          <p:cNvPr id="10" name="Screenshot border"/>
          <p:cNvSpPr/>
          <p:nvPr/>
        </p:nvSpPr>
        <p:spPr>
          <a:xfrm>
            <a:off x="3977640" y="1508760"/>
            <a:ext cx="4709160" cy="3107699"/>
          </a:xfrm>
          <a:prstGeom prst="rect">
            <a:avLst/>
          </a:prstGeom>
          <a:ln w="12700">
            <a:solidFill>
              <a:schemeClr val="accent6"/>
            </a:solidFill>
            <a:prstDash val="solid"/>
          </a:ln>
        </p:spPr>
      </p:sp>
      <p:sp>
        <p:nvSpPr>
          <p:cNvPr id="11" name="Caption"/>
          <p:cNvSpPr txBox="1"/>
          <p:nvPr/>
        </p:nvSpPr>
        <p:spPr>
          <a:xfrm>
            <a:off x="3977640" y="4689611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15 rows returned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Products Table</a:t>
            </a:r>
            <a:endParaRPr lang="en-US" sz="2600" dirty="0"/>
          </a:p>
        </p:txBody>
      </p:sp>
      <p:sp>
        <p:nvSpPr>
          <p:cNvPr id="3" name="Query label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QUERY</a:t>
            </a:r>
            <a:endParaRPr lang="en-US" sz="1200" dirty="0"/>
          </a:p>
        </p:txBody>
      </p:sp>
      <p:sp>
        <p:nvSpPr>
          <p:cNvPr id="4" name="Code box"/>
          <p:cNvSpPr/>
          <p:nvPr/>
        </p:nvSpPr>
        <p:spPr>
          <a:xfrm>
            <a:off x="457200" y="1508760"/>
            <a:ext cx="3200400" cy="502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Query text"/>
          <p:cNvSpPr txBox="1"/>
          <p:nvPr/>
        </p:nvSpPr>
        <p:spPr>
          <a:xfrm>
            <a:off x="45720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products;</a:t>
            </a:r>
            <a:endParaRPr lang="en-US" sz="1300" dirty="0"/>
          </a:p>
        </p:txBody>
      </p:sp>
      <p:sp>
        <p:nvSpPr>
          <p:cNvPr id="6" name="Insights label"/>
          <p:cNvSpPr txBox="1"/>
          <p:nvPr/>
        </p:nvSpPr>
        <p:spPr>
          <a:xfrm>
            <a:off x="45720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INSIGHTS</a:t>
            </a:r>
            <a:endParaRPr lang="en-US" sz="1200" dirty="0"/>
          </a:p>
        </p:txBody>
      </p:sp>
      <p:sp>
        <p:nvSpPr>
          <p:cNvPr id="7" name="Insights text"/>
          <p:cNvSpPr txBox="1"/>
          <p:nvPr/>
        </p:nvSpPr>
        <p:spPr>
          <a:xfrm>
            <a:off x="457200" y="2542032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catalogue has 10 products in 5 categories: Electronics, Wearables, Fashion, Home Appliances and Personal Care.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Electronics is the largest category with 4 products (iPhone 15, Galaxy S24, Sony TV, Lenovo Laptop).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Prices range from ₹1,499 (Philips Trimmer) to ₹79,999 (iPhone 15).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5 of 10 products cost more than ₹5,000, and 4 of those 5 are Electronics.</a:t>
            </a:r>
            <a:endParaRPr lang="en-US" sz="1200" dirty="0"/>
          </a:p>
        </p:txBody>
      </p:sp>
      <p:sp>
        <p:nvSpPr>
          <p:cNvPr id="8" name="Output label"/>
          <p:cNvSpPr txBox="1"/>
          <p:nvPr/>
        </p:nvSpPr>
        <p:spPr>
          <a:xfrm>
            <a:off x="39776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OUTPUT</a:t>
            </a:r>
            <a:endParaRPr lang="en-US" sz="1200" dirty="0"/>
          </a:p>
        </p:txBody>
      </p:sp>
      <p:pic>
        <p:nvPicPr>
          <p:cNvPr id="9" name="Output screenshot" descr="10 rows return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508760"/>
            <a:ext cx="4709160" cy="2973625"/>
          </a:xfrm>
          <a:prstGeom prst="rect">
            <a:avLst/>
          </a:prstGeom>
        </p:spPr>
      </p:pic>
      <p:sp>
        <p:nvSpPr>
          <p:cNvPr id="10" name="Screenshot border"/>
          <p:cNvSpPr/>
          <p:nvPr/>
        </p:nvSpPr>
        <p:spPr>
          <a:xfrm>
            <a:off x="3977640" y="1508760"/>
            <a:ext cx="4709160" cy="2973625"/>
          </a:xfrm>
          <a:prstGeom prst="rect">
            <a:avLst/>
          </a:prstGeom>
          <a:ln w="12700">
            <a:solidFill>
              <a:schemeClr val="accent6"/>
            </a:solidFill>
            <a:prstDash val="solid"/>
          </a:ln>
        </p:spPr>
      </p:sp>
      <p:sp>
        <p:nvSpPr>
          <p:cNvPr id="11" name="Caption"/>
          <p:cNvSpPr txBox="1"/>
          <p:nvPr/>
        </p:nvSpPr>
        <p:spPr>
          <a:xfrm>
            <a:off x="3977640" y="4555537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10 rows returned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Orders Table</a:t>
            </a:r>
            <a:endParaRPr lang="en-US" sz="2600" dirty="0"/>
          </a:p>
        </p:txBody>
      </p:sp>
      <p:sp>
        <p:nvSpPr>
          <p:cNvPr id="3" name="Query label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QUERY</a:t>
            </a:r>
            <a:endParaRPr lang="en-US" sz="1200" dirty="0"/>
          </a:p>
        </p:txBody>
      </p:sp>
      <p:sp>
        <p:nvSpPr>
          <p:cNvPr id="4" name="Code box"/>
          <p:cNvSpPr/>
          <p:nvPr/>
        </p:nvSpPr>
        <p:spPr>
          <a:xfrm>
            <a:off x="457200" y="1508760"/>
            <a:ext cx="3200400" cy="502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Query text"/>
          <p:cNvSpPr txBox="1"/>
          <p:nvPr/>
        </p:nvSpPr>
        <p:spPr>
          <a:xfrm>
            <a:off x="45720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orders;</a:t>
            </a:r>
            <a:endParaRPr lang="en-US" sz="1300" dirty="0"/>
          </a:p>
        </p:txBody>
      </p:sp>
      <p:sp>
        <p:nvSpPr>
          <p:cNvPr id="6" name="Insights label"/>
          <p:cNvSpPr txBox="1"/>
          <p:nvPr/>
        </p:nvSpPr>
        <p:spPr>
          <a:xfrm>
            <a:off x="45720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INSIGHTS</a:t>
            </a:r>
            <a:endParaRPr lang="en-US" sz="1200" dirty="0"/>
          </a:p>
        </p:txBody>
      </p:sp>
      <p:sp>
        <p:nvSpPr>
          <p:cNvPr id="7" name="Insights text"/>
          <p:cNvSpPr txBox="1"/>
          <p:nvPr/>
        </p:nvSpPr>
        <p:spPr>
          <a:xfrm>
            <a:off x="457200" y="2542032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 these 25 orders, UPI is the favourite payment mode (9 orders, 36%), then Credit Card (6) and Debit Card (4).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Electronics drive revenue: 9 of 25 orders but about 90% of the total value (₹6.78 lakh of ₹7.54 lakh).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Order 19 is the biggest at ₹1,11,998 (2 Lenovo Laptops). Average order value is about ₹30,179.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Customers 6 to 15 all placed a second order in Feb and Mar, which shows good repeat buying.</a:t>
            </a:r>
            <a:endParaRPr lang="en-US" sz="1200" dirty="0"/>
          </a:p>
        </p:txBody>
      </p:sp>
      <p:sp>
        <p:nvSpPr>
          <p:cNvPr id="8" name="Output label"/>
          <p:cNvSpPr txBox="1"/>
          <p:nvPr/>
        </p:nvSpPr>
        <p:spPr>
          <a:xfrm>
            <a:off x="39776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OUTPUT</a:t>
            </a:r>
            <a:endParaRPr lang="en-US" sz="1200" dirty="0"/>
          </a:p>
        </p:txBody>
      </p:sp>
      <p:pic>
        <p:nvPicPr>
          <p:cNvPr id="9" name="Output screenshot" descr="First 25 orders (Jan to Mar 202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508760"/>
            <a:ext cx="3747107" cy="3246120"/>
          </a:xfrm>
          <a:prstGeom prst="rect">
            <a:avLst/>
          </a:prstGeom>
        </p:spPr>
      </p:pic>
      <p:sp>
        <p:nvSpPr>
          <p:cNvPr id="10" name="Screenshot border"/>
          <p:cNvSpPr/>
          <p:nvPr/>
        </p:nvSpPr>
        <p:spPr>
          <a:xfrm>
            <a:off x="3977640" y="1508760"/>
            <a:ext cx="3747107" cy="3246120"/>
          </a:xfrm>
          <a:prstGeom prst="rect">
            <a:avLst/>
          </a:prstGeom>
          <a:ln w="12700">
            <a:solidFill>
              <a:schemeClr val="accent6"/>
            </a:solidFill>
            <a:prstDash val="solid"/>
          </a:ln>
        </p:spPr>
      </p:sp>
      <p:sp>
        <p:nvSpPr>
          <p:cNvPr id="11" name="Caption"/>
          <p:cNvSpPr txBox="1"/>
          <p:nvPr/>
        </p:nvSpPr>
        <p:spPr>
          <a:xfrm>
            <a:off x="3977640" y="482803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First 25 orders (Jan to Mar 2024)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C80BA-D032-1CD0-0AC1-A61A7A27C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7DAD5CA0-C19C-5BC6-249C-FA6D073AEF94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Q1. Fetch all customers from the database</a:t>
            </a:r>
            <a:endParaRPr lang="en-US" sz="2600" dirty="0"/>
          </a:p>
        </p:txBody>
      </p:sp>
      <p:sp>
        <p:nvSpPr>
          <p:cNvPr id="3" name="Query label">
            <a:extLst>
              <a:ext uri="{FF2B5EF4-FFF2-40B4-BE49-F238E27FC236}">
                <a16:creationId xmlns:a16="http://schemas.microsoft.com/office/drawing/2014/main" id="{15BF3A23-F2C3-9C23-4E92-0E807851DAAB}"/>
              </a:ext>
            </a:extLst>
          </p:cNvPr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QUERY</a:t>
            </a:r>
            <a:endParaRPr lang="en-US" sz="1200" dirty="0"/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692D04E6-17D3-27F7-2A02-454187193395}"/>
              </a:ext>
            </a:extLst>
          </p:cNvPr>
          <p:cNvSpPr/>
          <p:nvPr/>
        </p:nvSpPr>
        <p:spPr>
          <a:xfrm>
            <a:off x="457200" y="1508760"/>
            <a:ext cx="3200400" cy="502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Query text">
            <a:extLst>
              <a:ext uri="{FF2B5EF4-FFF2-40B4-BE49-F238E27FC236}">
                <a16:creationId xmlns:a16="http://schemas.microsoft.com/office/drawing/2014/main" id="{46E73949-CEE1-49B3-01F0-5F20E546D5B8}"/>
              </a:ext>
            </a:extLst>
          </p:cNvPr>
          <p:cNvSpPr txBox="1"/>
          <p:nvPr/>
        </p:nvSpPr>
        <p:spPr>
          <a:xfrm>
            <a:off x="45720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/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customers;</a:t>
            </a:r>
            <a:endParaRPr lang="en-US" sz="1300" dirty="0"/>
          </a:p>
        </p:txBody>
      </p:sp>
      <p:sp>
        <p:nvSpPr>
          <p:cNvPr id="6" name="Insights label">
            <a:extLst>
              <a:ext uri="{FF2B5EF4-FFF2-40B4-BE49-F238E27FC236}">
                <a16:creationId xmlns:a16="http://schemas.microsoft.com/office/drawing/2014/main" id="{5E7DF2DB-FCD9-B23E-1332-4C7F9675434F}"/>
              </a:ext>
            </a:extLst>
          </p:cNvPr>
          <p:cNvSpPr txBox="1"/>
          <p:nvPr/>
        </p:nvSpPr>
        <p:spPr>
          <a:xfrm>
            <a:off x="45720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INSIGHTS</a:t>
            </a:r>
            <a:endParaRPr lang="en-US" sz="1200" dirty="0"/>
          </a:p>
        </p:txBody>
      </p:sp>
      <p:sp>
        <p:nvSpPr>
          <p:cNvPr id="7" name="Insights text">
            <a:extLst>
              <a:ext uri="{FF2B5EF4-FFF2-40B4-BE49-F238E27FC236}">
                <a16:creationId xmlns:a16="http://schemas.microsoft.com/office/drawing/2014/main" id="{717C32F2-23ED-CA97-CBA2-98ABA20F9905}"/>
              </a:ext>
            </a:extLst>
          </p:cNvPr>
          <p:cNvSpPr txBox="1"/>
          <p:nvPr/>
        </p:nvSpPr>
        <p:spPr>
          <a:xfrm>
            <a:off x="457200" y="2542032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The Customers table contains customer details, including customer ID, name, email, city, and signup date.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 Each customer has a unique customer ID, which helps identify individual customers.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Customers have registered from multiple cities, showing the geographical distribution of the customer base.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The signup dates help track customer registration trends over time.</a:t>
            </a:r>
          </a:p>
        </p:txBody>
      </p:sp>
      <p:sp>
        <p:nvSpPr>
          <p:cNvPr id="8" name="Output label">
            <a:extLst>
              <a:ext uri="{FF2B5EF4-FFF2-40B4-BE49-F238E27FC236}">
                <a16:creationId xmlns:a16="http://schemas.microsoft.com/office/drawing/2014/main" id="{CAF2FBE2-F858-BF1B-1C21-D5AC2AB4CEA5}"/>
              </a:ext>
            </a:extLst>
          </p:cNvPr>
          <p:cNvSpPr txBox="1"/>
          <p:nvPr/>
        </p:nvSpPr>
        <p:spPr>
          <a:xfrm>
            <a:off x="39776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OUTPUT</a:t>
            </a:r>
            <a:endParaRPr lang="en-US" sz="1200" dirty="0"/>
          </a:p>
        </p:txBody>
      </p:sp>
      <p:sp>
        <p:nvSpPr>
          <p:cNvPr id="10" name="Screenshot border">
            <a:extLst>
              <a:ext uri="{FF2B5EF4-FFF2-40B4-BE49-F238E27FC236}">
                <a16:creationId xmlns:a16="http://schemas.microsoft.com/office/drawing/2014/main" id="{992676DA-82AC-847E-FBF7-76950916B7C5}"/>
              </a:ext>
            </a:extLst>
          </p:cNvPr>
          <p:cNvSpPr/>
          <p:nvPr/>
        </p:nvSpPr>
        <p:spPr>
          <a:xfrm>
            <a:off x="3847426" y="1642832"/>
            <a:ext cx="4049114" cy="2638497"/>
          </a:xfrm>
          <a:prstGeom prst="rect">
            <a:avLst/>
          </a:prstGeom>
          <a:ln w="12700">
            <a:solidFill>
              <a:schemeClr val="accent6"/>
            </a:solidFill>
            <a:prstDash val="solid"/>
          </a:ln>
        </p:spPr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5ADF8EFA-E74A-81D9-892B-9FAA4F465B67}"/>
              </a:ext>
            </a:extLst>
          </p:cNvPr>
          <p:cNvSpPr txBox="1"/>
          <p:nvPr/>
        </p:nvSpPr>
        <p:spPr>
          <a:xfrm>
            <a:off x="3977640" y="482803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First 25 orders (Jan to Mar 2024)</a:t>
            </a:r>
            <a:endParaRPr lang="en-US" sz="11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4FA11A2-CD16-1042-2ABF-CCBF26AEF6D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81062C-FE41-F9C6-594A-E141DB0E1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425" y="1642832"/>
            <a:ext cx="4126211" cy="263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90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Q2. Customer names and their cities</a:t>
            </a:r>
            <a:endParaRPr lang="en-US" sz="2600" dirty="0"/>
          </a:p>
        </p:txBody>
      </p:sp>
      <p:sp>
        <p:nvSpPr>
          <p:cNvPr id="3" name="Query label"/>
          <p:cNvSpPr txBox="1"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QUERY</a:t>
            </a:r>
            <a:endParaRPr lang="en-US" sz="1200" dirty="0"/>
          </a:p>
        </p:txBody>
      </p:sp>
      <p:sp>
        <p:nvSpPr>
          <p:cNvPr id="4" name="Code box"/>
          <p:cNvSpPr/>
          <p:nvPr/>
        </p:nvSpPr>
        <p:spPr>
          <a:xfrm>
            <a:off x="457200" y="1508760"/>
            <a:ext cx="3200400" cy="502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Query text"/>
          <p:cNvSpPr txBox="1"/>
          <p:nvPr/>
        </p:nvSpPr>
        <p:spPr>
          <a:xfrm>
            <a:off x="45720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city FROM customers;</a:t>
            </a:r>
            <a:endParaRPr lang="en-US" sz="1200" dirty="0"/>
          </a:p>
        </p:txBody>
      </p:sp>
      <p:sp>
        <p:nvSpPr>
          <p:cNvPr id="6" name="Insights label"/>
          <p:cNvSpPr txBox="1"/>
          <p:nvPr/>
        </p:nvSpPr>
        <p:spPr>
          <a:xfrm>
            <a:off x="45720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INSIGHTS</a:t>
            </a:r>
            <a:endParaRPr lang="en-US" sz="1200" dirty="0"/>
          </a:p>
        </p:txBody>
      </p:sp>
      <p:sp>
        <p:nvSpPr>
          <p:cNvPr id="7" name="Insights text"/>
          <p:cNvSpPr txBox="1"/>
          <p:nvPr/>
        </p:nvSpPr>
        <p:spPr>
          <a:xfrm>
            <a:off x="457200" y="2542032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Instead of SELECT *, only the 2 needed columns are fetched. This keeps the result small and focused.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Delhi (Rohit Kumar, Ravi Shankar) and Chennai (Karan Singh, Suresh Iyer) have 2 customers each.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8 of 15 customers live in the 6 big metros (Delhi, Mumbai, Chennai, Bengaluru, Hyderabad, Kolkata), the other 7 are in smaller cities.</a:t>
            </a:r>
            <a:endParaRPr lang="en-US" sz="1200" dirty="0"/>
          </a:p>
        </p:txBody>
      </p:sp>
      <p:sp>
        <p:nvSpPr>
          <p:cNvPr id="8" name="Output label"/>
          <p:cNvSpPr txBox="1"/>
          <p:nvPr/>
        </p:nvSpPr>
        <p:spPr>
          <a:xfrm>
            <a:off x="39776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</a:rPr>
              <a:t>OUTPUT</a:t>
            </a:r>
            <a:endParaRPr lang="en-US" sz="1200" dirty="0"/>
          </a:p>
        </p:txBody>
      </p:sp>
      <p:graphicFrame>
        <p:nvGraphicFramePr>
          <p:cNvPr id="9" name="Output table"/>
          <p:cNvGraphicFramePr>
            <a:graphicFrameLocks noGrp="1"/>
          </p:cNvGraphicFramePr>
          <p:nvPr/>
        </p:nvGraphicFramePr>
        <p:xfrm>
          <a:off x="3977640" y="1508760"/>
          <a:ext cx="4709160" cy="3145536"/>
        </p:xfrm>
        <a:graphic>
          <a:graphicData uri="http://schemas.openxmlformats.org/drawingml/2006/table">
            <a:tbl>
              <a:tblPr/>
              <a:tblGrid>
                <a:gridCol w="2354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city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Rohit Kumar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Delhi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Sneha Sharma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Mumbai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Amit Patel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Ahmedabad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Priya Reddy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Hyderabad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Karan Singh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Chennai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Neha Verma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Pune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Arjun Mehta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Bengaluru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Ritika Gupta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Kolkata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Vikram Joshi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Lucknow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Ananya Das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Bhubaneswar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Suresh Iyer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Chennai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Megha Kapoor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Jaipur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Ravi Shankar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Delhi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Tanya Mishra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Noida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Aditya Jain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Indore</a:t>
                      </a:r>
                      <a:endParaRPr lang="en-US" sz="95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0" name="Caption"/>
          <p:cNvSpPr txBox="1"/>
          <p:nvPr/>
        </p:nvSpPr>
        <p:spPr>
          <a:xfrm>
            <a:off x="3977640" y="470916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15 rows returned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FC7F-3F3E-6801-0201-214139BF1C54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5A2B3-FFAD-73A5-9411-F9CD1FAA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0" y="-1"/>
            <a:ext cx="9131260" cy="515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76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720090"/>
          </a:xfrm>
          <a:prstGeom prst="rect">
            <a:avLst/>
          </a:prstGeom>
          <a:solidFill>
            <a:srgbClr val="15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329185" y="123444"/>
            <a:ext cx="459196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sz="2100"/>
              <a:t>Q6–Q10. Customer &amp; Product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" y="720090"/>
            <a:ext cx="9143771" cy="37719"/>
          </a:xfrm>
          <a:prstGeom prst="rect">
            <a:avLst/>
          </a:prstGeom>
          <a:solidFill>
            <a:srgbClr val="FF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240030" y="891540"/>
            <a:ext cx="4251960" cy="1748790"/>
          </a:xfrm>
          <a:prstGeom prst="rect">
            <a:avLst/>
          </a:prstGeom>
          <a:solidFill>
            <a:srgbClr val="FFFFFF"/>
          </a:solidFill>
          <a:ln>
            <a:solidFill>
              <a:srgbClr val="C3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240030" y="891540"/>
            <a:ext cx="4251960" cy="233172"/>
          </a:xfrm>
          <a:prstGeom prst="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322326" y="918972"/>
            <a:ext cx="4114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4E7D"/>
                </a:solidFill>
                <a:latin typeface="Aptos"/>
              </a:defRPr>
            </a:pPr>
            <a:r>
              <a:rPr sz="1050"/>
              <a:t>Q6. Total number of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1186434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" y="1344168"/>
            <a:ext cx="3943350" cy="356616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438912" y="1392174"/>
            <a:ext cx="3806190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SELECT COUNT(*) AS total_customers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FROM Customers;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1762506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OUTPUT</a:t>
            </a:r>
          </a:p>
        </p:txBody>
      </p:sp>
      <p:pic>
        <p:nvPicPr>
          <p:cNvPr id="12" name="Picture 11" descr="735aeae3-e6e2-49cd-ad2d-02ac8c5ac7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97" y="1913382"/>
            <a:ext cx="797487" cy="3771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23110" y="1762506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110" y="1913382"/>
            <a:ext cx="222885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74C"/>
                </a:solidFill>
                <a:latin typeface="Aptos"/>
              </a:defRPr>
            </a:pPr>
            <a:r>
              <a:rPr sz="750"/>
              <a:t>• The database contains 15 customers.</a:t>
            </a:r>
            <a:br>
              <a:rPr sz="750"/>
            </a:br>
            <a:r>
              <a:rPr sz="750"/>
              <a:t>• COUNT(*) counts all rows in the Customers 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9724" y="891540"/>
            <a:ext cx="4251960" cy="1748790"/>
          </a:xfrm>
          <a:prstGeom prst="rect">
            <a:avLst/>
          </a:prstGeom>
          <a:solidFill>
            <a:srgbClr val="FFFFFF"/>
          </a:solidFill>
          <a:ln>
            <a:solidFill>
              <a:srgbClr val="C3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4649724" y="891540"/>
            <a:ext cx="4251960" cy="233172"/>
          </a:xfrm>
          <a:prstGeom prst="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4732020" y="918972"/>
            <a:ext cx="4114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4E7D"/>
                </a:solidFill>
                <a:latin typeface="Aptos"/>
              </a:defRPr>
            </a:pPr>
            <a:r>
              <a:rPr sz="1050"/>
              <a:t>Q7. Update Rohit Kumar’s 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6310" y="1186434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QUERY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6310" y="1344168"/>
            <a:ext cx="3943350" cy="466344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4848606" y="1392174"/>
            <a:ext cx="3806190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UPDATE Customers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SET city = 'Hyderabad'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WHERE name = 'Rohit Kumar';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6310" y="1892808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6310" y="2043684"/>
            <a:ext cx="38747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74C"/>
                </a:solidFill>
                <a:latin typeface="Aptos"/>
              </a:defRPr>
            </a:pPr>
            <a:r>
              <a:rPr sz="750"/>
              <a:t>• Updates Rohit Kumar’s city to Hyderabad.</a:t>
            </a:r>
            <a:br>
              <a:rPr sz="750"/>
            </a:br>
            <a:r>
              <a:rPr sz="750"/>
              <a:t>• Run a SELECT query to verify the updated record.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0030" y="2756915"/>
            <a:ext cx="2798064" cy="2112264"/>
          </a:xfrm>
          <a:prstGeom prst="rect">
            <a:avLst/>
          </a:prstGeom>
          <a:solidFill>
            <a:srgbClr val="FFFFFF"/>
          </a:solidFill>
          <a:ln>
            <a:solidFill>
              <a:srgbClr val="C3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Rectangle 23"/>
          <p:cNvSpPr/>
          <p:nvPr/>
        </p:nvSpPr>
        <p:spPr>
          <a:xfrm>
            <a:off x="240030" y="2756915"/>
            <a:ext cx="2798064" cy="233172"/>
          </a:xfrm>
          <a:prstGeom prst="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TextBox 24"/>
          <p:cNvSpPr txBox="1"/>
          <p:nvPr/>
        </p:nvSpPr>
        <p:spPr>
          <a:xfrm>
            <a:off x="322326" y="2784347"/>
            <a:ext cx="26609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4E7D"/>
                </a:solidFill>
                <a:latin typeface="Aptos"/>
              </a:defRPr>
            </a:pPr>
            <a:r>
              <a:rPr sz="1050"/>
              <a:t>Q8. Delete order with ID =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038093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QUERY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" y="3195828"/>
            <a:ext cx="2551176" cy="466344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/>
          <p:cNvSpPr txBox="1"/>
          <p:nvPr/>
        </p:nvSpPr>
        <p:spPr>
          <a:xfrm>
            <a:off x="438912" y="3243835"/>
            <a:ext cx="2414016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DELETE FROM Orders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WHERE order_id = 5;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758184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09060"/>
            <a:ext cx="25374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74C"/>
                </a:solidFill>
                <a:latin typeface="Aptos"/>
              </a:defRPr>
            </a:pPr>
            <a:r>
              <a:rPr sz="750"/>
              <a:t>• Deletes the order whose order_id is 5.</a:t>
            </a:r>
            <a:br>
              <a:rPr sz="750"/>
            </a:br>
            <a:r>
              <a:rPr sz="750"/>
              <a:t>• Confirm the deletion by checking the Orders 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60570"/>
            <a:ext cx="253746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E7D"/>
                </a:solidFill>
                <a:latin typeface="Aptos"/>
              </a:defRPr>
            </a:pPr>
            <a:r>
              <a:rPr sz="600"/>
              <a:t>Note: DELETE statements may not return a result grid.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8396" y="2756915"/>
            <a:ext cx="2798064" cy="2112264"/>
          </a:xfrm>
          <a:prstGeom prst="rect">
            <a:avLst/>
          </a:prstGeom>
          <a:solidFill>
            <a:srgbClr val="FFFFFF"/>
          </a:solidFill>
          <a:ln>
            <a:solidFill>
              <a:srgbClr val="C3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Rectangle 32"/>
          <p:cNvSpPr/>
          <p:nvPr/>
        </p:nvSpPr>
        <p:spPr>
          <a:xfrm>
            <a:off x="3168396" y="2756915"/>
            <a:ext cx="2798064" cy="233172"/>
          </a:xfrm>
          <a:prstGeom prst="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TextBox 33"/>
          <p:cNvSpPr txBox="1"/>
          <p:nvPr/>
        </p:nvSpPr>
        <p:spPr>
          <a:xfrm>
            <a:off x="3250692" y="2784347"/>
            <a:ext cx="26609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4E7D"/>
                </a:solidFill>
                <a:latin typeface="Aptos"/>
              </a:defRPr>
            </a:pPr>
            <a:r>
              <a:rPr sz="1050"/>
              <a:t>Q9. Products with 10% price 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84982" y="3038093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QUERY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84982" y="3195828"/>
            <a:ext cx="2551176" cy="603504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7" name="TextBox 36"/>
          <p:cNvSpPr txBox="1"/>
          <p:nvPr/>
        </p:nvSpPr>
        <p:spPr>
          <a:xfrm>
            <a:off x="3367278" y="3243834"/>
            <a:ext cx="2414016" cy="57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SELECT product_name,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 price AS original_price,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 price * 1.10 AS increased_price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FROM Products;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84982" y="3861054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OUTPUT</a:t>
            </a:r>
          </a:p>
        </p:txBody>
      </p:sp>
      <p:pic>
        <p:nvPicPr>
          <p:cNvPr id="39" name="Picture 38" descr="62cf7c4d-eda1-41ac-924b-da02f03e70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323" y="4018788"/>
            <a:ext cx="942494" cy="58293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284982" y="4629150"/>
            <a:ext cx="2551176" cy="190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26374C"/>
                </a:solidFill>
                <a:latin typeface="Aptos"/>
              </a:defRPr>
            </a:pPr>
            <a:r>
              <a:rPr sz="638"/>
              <a:t>Calculated price = original price × 1.10.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762" y="2756915"/>
            <a:ext cx="2804922" cy="2112264"/>
          </a:xfrm>
          <a:prstGeom prst="rect">
            <a:avLst/>
          </a:prstGeom>
          <a:solidFill>
            <a:srgbClr val="FFFFFF"/>
          </a:solidFill>
          <a:ln>
            <a:solidFill>
              <a:srgbClr val="C3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Rectangle 41"/>
          <p:cNvSpPr/>
          <p:nvPr/>
        </p:nvSpPr>
        <p:spPr>
          <a:xfrm>
            <a:off x="6096762" y="2756915"/>
            <a:ext cx="2804922" cy="233172"/>
          </a:xfrm>
          <a:prstGeom prst="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3" name="TextBox 42"/>
          <p:cNvSpPr txBox="1"/>
          <p:nvPr/>
        </p:nvSpPr>
        <p:spPr>
          <a:xfrm>
            <a:off x="6179059" y="2784347"/>
            <a:ext cx="266776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4E7D"/>
                </a:solidFill>
                <a:latin typeface="Aptos"/>
              </a:defRPr>
            </a:pPr>
            <a:r>
              <a:rPr sz="1050"/>
              <a:t>Q10. Unique customer cities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3348" y="3038093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QUERY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3348" y="3195828"/>
            <a:ext cx="2571750" cy="356616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6" name="TextBox 45"/>
          <p:cNvSpPr txBox="1"/>
          <p:nvPr/>
        </p:nvSpPr>
        <p:spPr>
          <a:xfrm>
            <a:off x="6295644" y="3243835"/>
            <a:ext cx="2434590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SELECT DISTINCT city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rPr sz="788"/>
              <a:t>FROM Customers;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3348" y="3621024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OUTPUT</a:t>
            </a:r>
          </a:p>
        </p:txBody>
      </p:sp>
      <p:pic>
        <p:nvPicPr>
          <p:cNvPr id="48" name="Picture 47" descr="a7963b94-77f4-4e0c-b670-aa95cbe72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229" y="3771900"/>
            <a:ext cx="379229" cy="8572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92924" y="3621024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INSIGHTS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92924" y="3771900"/>
            <a:ext cx="1357884" cy="61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6374C"/>
                </a:solidFill>
                <a:latin typeface="Aptos"/>
              </a:defRPr>
            </a:pPr>
            <a:r>
              <a:rPr sz="675"/>
              <a:t>• DISTINCT returns each city once.</a:t>
            </a:r>
            <a:br>
              <a:rPr sz="675"/>
            </a:br>
            <a:r>
              <a:rPr sz="675"/>
              <a:t>• The list includes Mumbai, Delhi, Hyderabad and other cities.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720090"/>
          </a:xfrm>
          <a:prstGeom prst="rect">
            <a:avLst/>
          </a:prstGeom>
          <a:solidFill>
            <a:srgbClr val="15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329184" y="123444"/>
            <a:ext cx="84353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sz="2100"/>
              <a:t>Q17–Q20. Summary Statistics with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1" y="720090"/>
            <a:ext cx="9143771" cy="37719"/>
          </a:xfrm>
          <a:prstGeom prst="rect">
            <a:avLst/>
          </a:prstGeom>
          <a:solidFill>
            <a:srgbClr val="FF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240030" y="925830"/>
            <a:ext cx="4251960" cy="1817370"/>
          </a:xfrm>
          <a:prstGeom prst="rect">
            <a:avLst/>
          </a:prstGeom>
          <a:solidFill>
            <a:srgbClr val="FFFFFF"/>
          </a:solidFill>
          <a:ln>
            <a:solidFill>
              <a:srgbClr val="C3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240030" y="925830"/>
            <a:ext cx="4251960" cy="233172"/>
          </a:xfrm>
          <a:prstGeom prst="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322326" y="953262"/>
            <a:ext cx="4114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4E7D"/>
                </a:solidFill>
                <a:latin typeface="Aptos"/>
              </a:defRPr>
            </a:pPr>
            <a:r>
              <a:rPr sz="1050"/>
              <a:t>Q17. Average order amount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758" y="1220724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758" y="1378458"/>
            <a:ext cx="4032504" cy="411480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432054" y="1419606"/>
            <a:ext cx="389534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>
                <a:solidFill>
                  <a:srgbClr val="FFFFFF"/>
                </a:solidFill>
                <a:latin typeface="Consolas"/>
              </a:defRPr>
            </a:pPr>
            <a:r>
              <a:rPr sz="720"/>
              <a:t>SELECT AVG(total_amount) AS</a:t>
            </a:r>
          </a:p>
          <a:p>
            <a:pPr>
              <a:defRPr sz="960">
                <a:solidFill>
                  <a:srgbClr val="FFFFFF"/>
                </a:solidFill>
                <a:latin typeface="Consolas"/>
              </a:defRPr>
            </a:pPr>
            <a:r>
              <a:rPr sz="720"/>
              <a:t>avg_order_amount FROM Orders;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758" y="1831086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OUTPUT</a:t>
            </a:r>
          </a:p>
        </p:txBody>
      </p:sp>
      <p:pic>
        <p:nvPicPr>
          <p:cNvPr id="12" name="Picture 11" descr="29111474-a999-4bfa-8d14-bb5d03e049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48" y="1968246"/>
            <a:ext cx="1111181" cy="3771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88820" y="1831086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8820" y="1975105"/>
            <a:ext cx="2366010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6374C"/>
                </a:solidFill>
                <a:latin typeface="Aptos"/>
              </a:defRPr>
            </a:pPr>
            <a:r>
              <a:rPr sz="788"/>
              <a:t>Average order amount: 32,722.83.</a:t>
            </a:r>
            <a:br>
              <a:rPr sz="788"/>
            </a:br>
            <a:r>
              <a:rPr sz="788"/>
              <a:t>AVG() calculates the mean order value.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9724" y="925830"/>
            <a:ext cx="4251960" cy="1817370"/>
          </a:xfrm>
          <a:prstGeom prst="rect">
            <a:avLst/>
          </a:prstGeom>
          <a:solidFill>
            <a:srgbClr val="FFFFFF"/>
          </a:solidFill>
          <a:ln>
            <a:solidFill>
              <a:srgbClr val="C3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4649724" y="925830"/>
            <a:ext cx="4251960" cy="233172"/>
          </a:xfrm>
          <a:prstGeom prst="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4732020" y="953262"/>
            <a:ext cx="4114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4E7D"/>
                </a:solidFill>
                <a:latin typeface="Aptos"/>
              </a:defRPr>
            </a:pPr>
            <a:r>
              <a:rPr sz="1050"/>
              <a:t>Q18. Highest order 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9452" y="1220724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QUERY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9452" y="1378458"/>
            <a:ext cx="4032504" cy="411480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4841748" y="1419606"/>
            <a:ext cx="389534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>
                <a:solidFill>
                  <a:srgbClr val="FFFFFF"/>
                </a:solidFill>
                <a:latin typeface="Consolas"/>
              </a:defRPr>
            </a:pPr>
            <a:r>
              <a:rPr sz="720"/>
              <a:t>SELECT MAX(total_amount) AS</a:t>
            </a:r>
          </a:p>
          <a:p>
            <a:pPr>
              <a:defRPr sz="960">
                <a:solidFill>
                  <a:srgbClr val="FFFFFF"/>
                </a:solidFill>
                <a:latin typeface="Consolas"/>
              </a:defRPr>
            </a:pPr>
            <a:r>
              <a:rPr sz="720"/>
              <a:t>highest_order_amount FROM Orders;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9452" y="1831086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OUTPUT</a:t>
            </a:r>
          </a:p>
        </p:txBody>
      </p:sp>
      <p:pic>
        <p:nvPicPr>
          <p:cNvPr id="22" name="Picture 21" descr="c59d8cc3-f670-4153-a5c9-dda6157978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038" y="1968246"/>
            <a:ext cx="1275588" cy="37719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98514" y="1831086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8514" y="1975105"/>
            <a:ext cx="2366010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6374C"/>
                </a:solidFill>
                <a:latin typeface="Aptos"/>
              </a:defRPr>
            </a:pPr>
            <a:r>
              <a:rPr sz="788"/>
              <a:t>Highest order amount: 111,998.00.</a:t>
            </a:r>
            <a:br>
              <a:rPr sz="788"/>
            </a:br>
            <a:r>
              <a:rPr sz="788"/>
              <a:t>MAX() returns the largest order value.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0030" y="2880360"/>
            <a:ext cx="4251960" cy="1885950"/>
          </a:xfrm>
          <a:prstGeom prst="rect">
            <a:avLst/>
          </a:prstGeom>
          <a:solidFill>
            <a:srgbClr val="FFFFFF"/>
          </a:solidFill>
          <a:ln>
            <a:solidFill>
              <a:srgbClr val="C3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25"/>
          <p:cNvSpPr/>
          <p:nvPr/>
        </p:nvSpPr>
        <p:spPr>
          <a:xfrm>
            <a:off x="240030" y="2880360"/>
            <a:ext cx="4251960" cy="233172"/>
          </a:xfrm>
          <a:prstGeom prst="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322326" y="2907792"/>
            <a:ext cx="4114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4E7D"/>
                </a:solidFill>
                <a:latin typeface="Aptos"/>
              </a:defRPr>
            </a:pPr>
            <a:r>
              <a:rPr sz="1050"/>
              <a:t>Q19. Lowest product 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758" y="3175254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QUERY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9758" y="3332988"/>
            <a:ext cx="4032504" cy="411480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TextBox 29"/>
          <p:cNvSpPr txBox="1"/>
          <p:nvPr/>
        </p:nvSpPr>
        <p:spPr>
          <a:xfrm>
            <a:off x="432054" y="3374136"/>
            <a:ext cx="389534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>
                <a:solidFill>
                  <a:srgbClr val="FFFFFF"/>
                </a:solidFill>
                <a:latin typeface="Consolas"/>
              </a:defRPr>
            </a:pPr>
            <a:r>
              <a:rPr sz="720"/>
              <a:t>SELECT MIN(price) AS lowest_price</a:t>
            </a:r>
          </a:p>
          <a:p>
            <a:pPr>
              <a:defRPr sz="960">
                <a:solidFill>
                  <a:srgbClr val="FFFFFF"/>
                </a:solidFill>
                <a:latin typeface="Consolas"/>
              </a:defRPr>
            </a:pPr>
            <a:r>
              <a:rPr sz="720"/>
              <a:t>FROM Products;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758" y="3785616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OUTPUT</a:t>
            </a:r>
          </a:p>
        </p:txBody>
      </p:sp>
      <p:pic>
        <p:nvPicPr>
          <p:cNvPr id="32" name="Picture 31" descr="d6f367ba-aa4e-4d88-ad9e-8d82d16d3e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54" y="3922776"/>
            <a:ext cx="1279166" cy="37719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88820" y="3785616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8820" y="3929635"/>
            <a:ext cx="2366010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6374C"/>
                </a:solidFill>
                <a:latin typeface="Aptos"/>
              </a:defRPr>
            </a:pPr>
            <a:r>
              <a:rPr sz="788"/>
              <a:t>Lowest product price: 1,499.00.</a:t>
            </a:r>
            <a:br>
              <a:rPr sz="788"/>
            </a:br>
            <a:r>
              <a:rPr sz="788"/>
              <a:t>MIN() returns the smallest product price.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9724" y="2880360"/>
            <a:ext cx="4251960" cy="1885950"/>
          </a:xfrm>
          <a:prstGeom prst="rect">
            <a:avLst/>
          </a:prstGeom>
          <a:solidFill>
            <a:srgbClr val="FFFFFF"/>
          </a:solidFill>
          <a:ln>
            <a:solidFill>
              <a:srgbClr val="C3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6" name="Rectangle 35"/>
          <p:cNvSpPr/>
          <p:nvPr/>
        </p:nvSpPr>
        <p:spPr>
          <a:xfrm>
            <a:off x="4649724" y="2880360"/>
            <a:ext cx="4251960" cy="233172"/>
          </a:xfrm>
          <a:prstGeom prst="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7" name="TextBox 36"/>
          <p:cNvSpPr txBox="1"/>
          <p:nvPr/>
        </p:nvSpPr>
        <p:spPr>
          <a:xfrm>
            <a:off x="4732020" y="2907792"/>
            <a:ext cx="4114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4E7D"/>
                </a:solidFill>
                <a:latin typeface="Aptos"/>
              </a:defRPr>
            </a:pPr>
            <a:r>
              <a:rPr sz="1050"/>
              <a:t>Q20. Total money spent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9452" y="3175254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QUERY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9452" y="3332988"/>
            <a:ext cx="4032504" cy="411480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TextBox 39"/>
          <p:cNvSpPr txBox="1"/>
          <p:nvPr/>
        </p:nvSpPr>
        <p:spPr>
          <a:xfrm>
            <a:off x="4841748" y="3374136"/>
            <a:ext cx="389534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>
                <a:solidFill>
                  <a:srgbClr val="FFFFFF"/>
                </a:solidFill>
                <a:latin typeface="Consolas"/>
              </a:defRPr>
            </a:pPr>
            <a:r>
              <a:rPr sz="720"/>
              <a:t>SELECT SUM(total_amount) AS</a:t>
            </a:r>
          </a:p>
          <a:p>
            <a:pPr>
              <a:defRPr sz="960">
                <a:solidFill>
                  <a:srgbClr val="FFFFFF"/>
                </a:solidFill>
                <a:latin typeface="Consolas"/>
              </a:defRPr>
            </a:pPr>
            <a:r>
              <a:rPr sz="720"/>
              <a:t>total_spent FROM Orders;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9452" y="3785616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OUTPUT</a:t>
            </a:r>
          </a:p>
        </p:txBody>
      </p:sp>
      <p:pic>
        <p:nvPicPr>
          <p:cNvPr id="42" name="Picture 41" descr="fb1d4333-9a6d-4027-b75c-c063bb44f0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1241" y="3922776"/>
            <a:ext cx="925183" cy="37719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398514" y="3785616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54E7D"/>
                </a:solidFill>
                <a:latin typeface="Aptos"/>
              </a:defRPr>
            </a:pPr>
            <a:r>
              <a:rPr sz="675"/>
              <a:t>INSIGHTS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8514" y="3929635"/>
            <a:ext cx="2366010" cy="334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26374C"/>
                </a:solidFill>
                <a:latin typeface="Aptos"/>
              </a:defRPr>
            </a:pPr>
            <a:r>
              <a:rPr sz="788"/>
              <a:t>Total spent across all orders: 948,962.00.</a:t>
            </a:r>
            <a:br>
              <a:rPr sz="788"/>
            </a:br>
            <a:r>
              <a:rPr sz="788"/>
              <a:t>SUM() adds all order amounts.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720090"/>
          </a:xfrm>
          <a:prstGeom prst="rect">
            <a:avLst/>
          </a:prstGeom>
          <a:solidFill>
            <a:srgbClr val="15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329184" y="123444"/>
            <a:ext cx="84353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sz="2100"/>
              <a:t>Project Conclusion &amp; 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" y="720090"/>
            <a:ext cx="9143771" cy="37719"/>
          </a:xfrm>
          <a:prstGeom prst="rect">
            <a:avLst/>
          </a:prstGeom>
          <a:solidFill>
            <a:srgbClr val="FF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377190" y="994410"/>
            <a:ext cx="4114800" cy="3257550"/>
          </a:xfrm>
          <a:prstGeom prst="rect">
            <a:avLst/>
          </a:prstGeom>
          <a:solidFill>
            <a:srgbClr val="FFFFFF"/>
          </a:solidFill>
          <a:ln>
            <a:solidFill>
              <a:srgbClr val="C3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377190" y="994410"/>
            <a:ext cx="4114800" cy="288036"/>
          </a:xfrm>
          <a:prstGeom prst="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500634" y="1035558"/>
            <a:ext cx="3867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4E7D"/>
                </a:solidFill>
                <a:latin typeface="Aptos"/>
              </a:defRPr>
            </a:pPr>
            <a:r>
              <a:rPr sz="1200"/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994410"/>
            <a:ext cx="4114800" cy="3257550"/>
          </a:xfrm>
          <a:prstGeom prst="rect">
            <a:avLst/>
          </a:prstGeom>
          <a:solidFill>
            <a:srgbClr val="FFFFFF"/>
          </a:solidFill>
          <a:ln>
            <a:solidFill>
              <a:srgbClr val="C3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4663440" y="994410"/>
            <a:ext cx="4114800" cy="288036"/>
          </a:xfrm>
          <a:prstGeom prst="rect">
            <a:avLst/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4786884" y="1035558"/>
            <a:ext cx="3867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4E7D"/>
                </a:solidFill>
                <a:latin typeface="Aptos"/>
              </a:defRPr>
            </a:pPr>
            <a:r>
              <a:rPr sz="1200"/>
              <a:t>LEARNING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" y="1405889"/>
            <a:ext cx="373761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74C"/>
                </a:solidFill>
                <a:latin typeface="Aptos"/>
              </a:defRPr>
            </a:pPr>
            <a:r>
              <a:rPr sz="975"/>
              <a:t>This project demonstrates the use of basic SQL queries to manage and analyze customer, product, and order data.</a:t>
            </a:r>
            <a:br>
              <a:rPr sz="975"/>
            </a:br>
            <a:br>
              <a:rPr sz="975"/>
            </a:br>
            <a:r>
              <a:rPr sz="975"/>
              <a:t>Key concepts covered:</a:t>
            </a:r>
            <a:br>
              <a:rPr sz="975"/>
            </a:br>
            <a:r>
              <a:rPr sz="975"/>
              <a:t>• Database and table creation</a:t>
            </a:r>
            <a:br>
              <a:rPr sz="975"/>
            </a:br>
            <a:r>
              <a:rPr sz="975"/>
              <a:t>• Retrieving data using SELECT</a:t>
            </a:r>
            <a:br>
              <a:rPr sz="975"/>
            </a:br>
            <a:r>
              <a:rPr sz="975"/>
              <a:t>• Filtering data using WHERE</a:t>
            </a:r>
            <a:br>
              <a:rPr sz="975"/>
            </a:br>
            <a:r>
              <a:rPr sz="975"/>
              <a:t>• Sorting and limiting records</a:t>
            </a:r>
            <a:br>
              <a:rPr sz="975"/>
            </a:br>
            <a:r>
              <a:rPr sz="975"/>
              <a:t>• Aggregate functions: COUNT, AVG, MAX, MIN and SUM</a:t>
            </a:r>
            <a:br>
              <a:rPr sz="975"/>
            </a:br>
            <a:r>
              <a:rPr sz="975"/>
              <a:t>• Updating customer information and deleting specific orders</a:t>
            </a:r>
            <a:br>
              <a:rPr sz="975"/>
            </a:br>
            <a:r>
              <a:rPr sz="975"/>
              <a:t>• Calculating increased product prices</a:t>
            </a:r>
            <a:br>
              <a:rPr sz="975"/>
            </a:br>
            <a:r>
              <a:rPr sz="975"/>
              <a:t>• Identifying unique cities and filtering payment modes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8606" y="1405889"/>
            <a:ext cx="3737610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6374C"/>
                </a:solidFill>
                <a:latin typeface="Aptos"/>
              </a:defRPr>
            </a:pPr>
            <a:r>
              <a:rPr sz="975"/>
              <a:t>This project helped me understand basic SQL operations and how to use MySQL Workbench for data analysis.</a:t>
            </a:r>
            <a:br>
              <a:rPr sz="975"/>
            </a:br>
            <a:br>
              <a:rPr sz="975"/>
            </a:br>
            <a:r>
              <a:rPr sz="975"/>
              <a:t>Key learning outcomes:</a:t>
            </a:r>
            <a:br>
              <a:rPr sz="975"/>
            </a:br>
            <a:r>
              <a:rPr sz="975"/>
              <a:t>• Writing and executing SQL queries</a:t>
            </a:r>
            <a:br>
              <a:rPr sz="975"/>
            </a:br>
            <a:r>
              <a:rPr sz="975"/>
              <a:t>• Retrieving and filtering relevant records</a:t>
            </a:r>
            <a:br>
              <a:rPr sz="975"/>
            </a:br>
            <a:r>
              <a:rPr sz="975"/>
              <a:t>• Sorting results and limiting output</a:t>
            </a:r>
            <a:br>
              <a:rPr sz="975"/>
            </a:br>
            <a:r>
              <a:rPr sz="975"/>
              <a:t>• Summarizing data with aggregate functions</a:t>
            </a:r>
            <a:br>
              <a:rPr sz="975"/>
            </a:br>
            <a:r>
              <a:rPr sz="975"/>
              <a:t>• Modifying records using UPDATE and DELETE</a:t>
            </a:r>
            <a:br>
              <a:rPr sz="975"/>
            </a:br>
            <a:r>
              <a:rPr sz="975"/>
              <a:t>• Interpreting query results to draw useful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7190" y="4443984"/>
            <a:ext cx="8401050" cy="377190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514350" y="4519422"/>
            <a:ext cx="81267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rPr sz="1200"/>
              <a:t>END OF PROJECT  •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QL Assignment">
  <a:themeElements>
    <a:clrScheme name="SQL Assignment">
      <a:dk1>
        <a:srgbClr val="1F2937"/>
      </a:dk1>
      <a:lt1>
        <a:srgbClr val="FFFFFF"/>
      </a:lt1>
      <a:dk2>
        <a:srgbClr val="0F4C81"/>
      </a:dk2>
      <a:lt2>
        <a:srgbClr val="F3F6FA"/>
      </a:lt2>
      <a:accent1>
        <a:srgbClr val="0F4C81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F4C81"/>
      </a:hlink>
      <a:folHlink>
        <a:srgbClr val="64748B"/>
      </a:folHlink>
    </a:clrScheme>
    <a:fontScheme name="SQL Assignme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1169</Words>
  <Application>Microsoft Office PowerPoint</Application>
  <PresentationFormat>On-screen Show (16:9)</PresentationFormat>
  <Paragraphs>190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SQL Assignment</vt:lpstr>
      <vt:lpstr>PowerPoint Presentation</vt:lpstr>
      <vt:lpstr>Database Overview: RetailDB_1</vt:lpstr>
      <vt:lpstr>Customers Table (Q1: Fetch all customers)</vt:lpstr>
      <vt:lpstr>Products Table</vt:lpstr>
      <vt:lpstr>Orders Table</vt:lpstr>
      <vt:lpstr>Q1. Fetch all customers from the database</vt:lpstr>
      <vt:lpstr>Q2. Customer names and their cities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Assignment - RetailDB_1</dc:title>
  <dc:subject>PptxGenJS Presentation</dc:subject>
  <dc:creator>PptxGenJS</dc:creator>
  <cp:lastModifiedBy>saurabh shukla</cp:lastModifiedBy>
  <cp:revision>3</cp:revision>
  <dcterms:created xsi:type="dcterms:W3CDTF">2026-10-19T15:41:03Z</dcterms:created>
  <dcterms:modified xsi:type="dcterms:W3CDTF">2026-10-19T17:24:35Z</dcterms:modified>
</cp:coreProperties>
</file>